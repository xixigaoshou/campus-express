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1097280"/>
            <a:ext cx="3108960" cy="3108960"/>
          </a:xfrm>
          <a:prstGeom prst="ellipse">
            <a:avLst/>
          </a:prstGeom>
          <a:solidFill>
            <a:srgbClr val="1D4466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3840480"/>
            <a:ext cx="2743200" cy="2743200"/>
          </a:xfrm>
          <a:prstGeom prst="ellipse">
            <a:avLst/>
          </a:prstGeom>
          <a:solidFill>
            <a:srgbClr val="1D446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640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赣南师范大学科技学院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FA8D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计算机类课程实验报告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1828800"/>
            <a:ext cx="4389120" cy="45720"/>
          </a:xfrm>
          <a:prstGeom prst="roundRect">
            <a:avLst>
              <a:gd name="adj" fmla="val 40000"/>
            </a:avLst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400" b="1" spc="2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校园快递代取平台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731520" y="299923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spc="150" kern="0" dirty="0">
                <a:solidFill>
                  <a:srgbClr val="FFB703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需求分析报告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小组成员：易涛，熊孟霖，彭效然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指导老师：曾小龙    日期：2026/9/23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目录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282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项目背景与目标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37360" y="1984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· 目标 · 范围 · 可行性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441448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645160000" dist="322580000" dir="972000000000">
              <a:srgbClr val="000000">
                <a:alpha val="180000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05840" y="2569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37360" y="2532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用户角色分析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37360" y="2825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两类角色 · 用例总览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22960" y="3282696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8193532000000" dist="4096766000000" dir="58320000000000000">
              <a:srgbClr val="000000">
                <a:alpha val="1800000000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05840" y="34107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737360" y="33741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功能需求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3666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5项核心功能 · 辅助功能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4123944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04057856400000000" dist="52028928200000000" dir="3.4992e+21">
              <a:srgbClr val="000000">
                <a:alpha val="1800000000000000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0584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737360" y="4215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7360" y="4507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 · 安全 · 可用性等六类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83480" y="1600200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32153477628e+21" dist="660767388140000000000" dir="2.09952e+26">
              <a:srgbClr val="000000">
                <a:alpha val="1.8e+24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66360" y="172821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897880" y="169164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数据需求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897880" y="198424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实体关系 · 表设计 · 完整性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83480" y="2441448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6783491658756e+25" dist="8.391745829378e+24" dir="1.259712e+31">
              <a:srgbClr val="000000">
                <a:alpha val="1.8e+29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66360" y="25694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897880" y="25328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业务规则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97880" y="28254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状态流转 · 抢单 · 报酬 · 信誉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983480" y="3282696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1315034406620118e+29" dist="1.0657517203310059e+29" dir="7.558272e+35">
              <a:srgbClr val="000000">
                <a:alpha val="1.7999999999999998e+34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166360" y="341071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897880" y="33741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外部接口需求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897880" y="36667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站内自实现 · 取舍说明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83480" y="4123944"/>
            <a:ext cx="38862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707009369640755e+33" dist="1.3535046848203775e+33" dir="4.5349632e+40">
              <a:srgbClr val="000000">
                <a:alpha val="1.8e+39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166360" y="42519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8A3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08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897880" y="421538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技术选型建议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97880" y="45079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 · 技术栈 · 分工 · 计划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1.1 项目背景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校园快递代取平台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3429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3.437901899443759e+37" dist="1.7189509497218795e+37" dir="2.72097792e+45">
              <a:srgbClr val="000000">
                <a:alpha val="1.8e+4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435608"/>
            <a:ext cx="64008" cy="302666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校园快递痛点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91640"/>
            <a:ext cx="23591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取件时间与课程安排冲突，驿站营业时间固定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高峰期驿站排队时间长，影响学习生活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取件点多且分散，跨区域取件往返成本高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找人代取缺乏可信渠道，无责任追溯机制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01568" y="1234440"/>
            <a:ext cx="2743200" cy="3429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4.366135412293574e+41" dist="2.183067706146787e+41" dir="1.632586752e+50">
              <a:srgbClr val="000000">
                <a:alpha val="1.8e+49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9856" y="1435608"/>
            <a:ext cx="64008" cy="302666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代取需求增长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02736" y="1691640"/>
            <a:ext cx="23591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快递业务量逐年上升，驿站货架一位难求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同学间互助代取普遍，但靠口头约定效率低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需要一个可信的线上撮合平台承接需求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平台化可沉淀评价与信誉，提升代取可信度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55080" y="1234440"/>
            <a:ext cx="2788920" cy="3429000"/>
          </a:xfrm>
          <a:prstGeom prst="roundRect">
            <a:avLst>
              <a:gd name="adj" fmla="val 2623"/>
            </a:avLst>
          </a:prstGeom>
          <a:solidFill>
            <a:srgbClr val="1B4965"/>
          </a:solidFill>
          <a:ln/>
          <a:effectLst>
            <a:outerShdw sx="100000" sy="100000" kx="0" ky="0" algn="bl" rotWithShape="0" blurRad="5.544991973612839e+45" dist="2.7724959868064195e+45" dir="9.795520512e+54">
              <a:srgbClr val="000000">
                <a:alpha val="1.8e+54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项目定位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182880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面向高校校园的快递代取信息撮合平台：需求方发布代取需求，接单者自愿抢单承接，平台保障订单状态全程可追踪、沟通可留痕、服务可评价。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3796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FA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开发课程期末项目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1.2 项目目标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 + 具体目标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1B4965"/>
          </a:solidFill>
          <a:ln/>
          <a:effectLst>
            <a:outerShdw sx="100000" sy="100000" kx="0" ky="0" algn="bl" rotWithShape="0" blurRad="7.042139806488305e+49" dist="3.5210699032441527e+49" dir="5.8773123072e+59">
              <a:srgbClr val="000000">
                <a:alpha val="1.8000000000000001e+5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887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总体目标：基于 Web 应用与数据库技术，建设一个稳定、易用、可信的校园快递代取平台，让代取需求发布与承接实现全流程线上化。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00507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8.943517554240149e+53" dist="4.471758777120074e+53" dir="3.52638738432e+64">
              <a:srgbClr val="000000">
                <a:alpha val="1.8e+64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13432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2585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提供代取需求的发布与承接渠道，需求方 30 秒内完成发布，接单者实时浏览抢单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70432" y="2990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· 接单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81728" y="2148840"/>
            <a:ext cx="400507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1358267293884988e+58" dist="5.679133646942494e+57" dir="2.115832430592e+69">
              <a:srgbClr val="000000">
                <a:alpha val="1.8e+6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2313432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5" name="Text 13"/>
          <p:cNvSpPr/>
          <p:nvPr/>
        </p:nvSpPr>
        <p:spPr>
          <a:xfrm>
            <a:off x="4864608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94960" y="225856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实现订单状态全程可追踪（待接单→已完成），状态变更实时可查、操作留痕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394960" y="2990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状态流转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447288"/>
            <a:ext cx="400507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4424999463233936e+62" dist="7.212499731616968e+61" dir="1.2694994583552e+74">
              <a:srgbClr val="000000">
                <a:alpha val="1.8000000000000002e+7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611880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70432" y="35570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提供订单留言沟通与双向评价机制，沉淀信誉分，构建可信代取环境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170432" y="4288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 · 评价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81728" y="3447288"/>
            <a:ext cx="4005072" cy="1152144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83197493183071e+66" dist="9.15987465915355e+65" dir="7.6169967501312e+78">
              <a:srgbClr val="000000">
                <a:alpha val="1.8000000000000003e+79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3611880"/>
            <a:ext cx="384048" cy="38404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55701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个人订单中心统一管理我的发布/我的接单，并统计订单与信誉数据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394960" y="42885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订单中心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1.3 项目范围 / 1.4 意义与可行性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范围聚焦 + 可行性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项目范围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3266081634250016e+70" dist="1.1633040817125008e+70" dir="4.57019805007872e+83">
              <a:srgbClr val="000000">
                <a:alpha val="1.8000000000000004e+84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682496"/>
            <a:ext cx="64008" cy="107899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91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功能范围 / 技术范围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核心：发布需求、接单、状态流转、留言、订单中心、评价信誉；适配 4 项课程技术点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管理后台、第三方接口不在本轮范围；Vue3 + Spring Boot 前后端分离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402336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954792367549752e+74" dist="1.477396183774876e+74" dir="2.742118830047232e+88">
              <a:srgbClr val="000000">
                <a:alpha val="1.8000000000000005e+8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3291840"/>
            <a:ext cx="64008" cy="1170432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项目边界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547872"/>
            <a:ext cx="363931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仅面向校内用户，学号/工号实名注册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报酬结算线下进行，平台不做支付担保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意义与可行性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63440" y="1481328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3.752586306788185e+78" dist="1.8762931533940924e+78" dir="1.6452712980283393e+93">
              <a:srgbClr val="000000">
                <a:alpha val="1.8000000000000007e+9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645920"/>
            <a:ext cx="64008" cy="585216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72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847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Java/Spring Boot/MyBatis/MySQL 技术成熟，小组已掌握；Vue3 生态完善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542032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4.765784609620995e+82" dist="2.3828923048104974e+82" dir="9.871627788170035e+97">
              <a:srgbClr val="000000">
                <a:alpha val="1.8000000000000008e+99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81728" y="2706624"/>
            <a:ext cx="64008" cy="585216"/>
          </a:xfrm>
          <a:prstGeom prst="rect">
            <a:avLst/>
          </a:prstGeom>
          <a:solidFill>
            <a:srgbClr val="2C6E8F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633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经济可行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9077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全部采用开源技术栈，部署在实验室服务器，无额外成本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602736"/>
            <a:ext cx="4023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6.052546454218663e+86" dist="3.0262732271093317e+86" dir="5.922976672902021e+102">
              <a:srgbClr val="000000">
                <a:alpha val="1.800000000000001e+104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81728" y="3767328"/>
            <a:ext cx="64008" cy="585216"/>
          </a:xfrm>
          <a:prstGeom prst="rect">
            <a:avLst/>
          </a:prstGeom>
          <a:solidFill>
            <a:srgbClr val="E8A300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694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操作可行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9684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端无需安装，校园网内访问；界面简洁，操作门槛低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2.1 用户角色分析：两类核心角色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角色总体划分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400507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7.6867339968577025e+90" dist="3.8433669984288512e+90" dir="3.5537860037412126e+107">
              <a:srgbClr val="000000">
                <a:alpha val="1.800000000000001e+10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417320"/>
            <a:ext cx="658368" cy="658368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需求发布者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需求侧发起方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3317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通常是课程时间冲突、不便取件的同学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发布代取需求：取件点、送达点、期望时间、报酬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查看订单状态、留言沟通、确认收货并评价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81728" y="1188720"/>
            <a:ext cx="4005072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9.762152176009283e+94" dist="4.8810760880046414e+94" dir="2.1322716022447277e+112">
              <a:srgbClr val="000000">
                <a:alpha val="1.800000000000001e+11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10328" y="1417320"/>
            <a:ext cx="658368" cy="658368"/>
          </a:xfrm>
          <a:prstGeom prst="ellipse">
            <a:avLst/>
          </a:prstGeom>
          <a:solidFill>
            <a:srgbClr val="E8A3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接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687568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接单者（代取人员）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87568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供给侧承接方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56048" y="2331720"/>
            <a:ext cx="35204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通常为空闲时间较多的同学，自愿接单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浏览需求大厅、抢单承接、按状态履约更新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完成配送获取报酬，接受双方互评积累信誉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828032"/>
            <a:ext cx="8229600" cy="256032"/>
          </a:xfrm>
          <a:prstGeom prst="roundRect">
            <a:avLst>
              <a:gd name="adj" fmla="val 17857"/>
            </a:avLst>
          </a:prstGeom>
          <a:solidFill>
            <a:srgbClr val="EAF3F9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2803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双方围绕同一笔订单形成供需关系：发布者发起生命周期，接单者推动履约，平台保障过程透明。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2.4 用户用例总览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核心用例清单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852160"/>
              </a:tblGrid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角色</a:t>
                      </a:r>
                      <a:endParaRPr lang="en-US" sz="13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主要用例</a:t>
                      </a:r>
                      <a:endParaRPr lang="en-US" sz="13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</a:rPr>
                        <a:t>需求发布者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</a:rPr>
                        <a:t>注册登录 · 发布代取需求 · 查看订单状态 · 留言沟通 · 取消订单 · 评价接单者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</a:rPr>
                        <a:t>接单者（代取人员）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</a:rPr>
                        <a:t>注册登录 · 浏览需求并抢单 · 更新订单状态 · 留言沟通 · 查看收益 · 评价需求方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965"/>
                          </a:solidFill>
                        </a:rPr>
                        <a:t>双方（协作场景）</a:t>
                      </a:r>
                      <a:endParaRPr lang="en-US" sz="12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2313F"/>
                          </a:solidFill>
                        </a:rPr>
                        <a:t>接收订单通知 · 处理超时提醒 · 协商解决问题 · 查看信誉与历史订单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用例设计覆盖订单全生命周期：发布 → 接单 → 履约 → 完成 → 评价，每个关键节点均有对应的系统功能支撑。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3.1 功能需求总览：功能 × 技术点映射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核心基础功能全覆盖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023360"/>
                <a:gridCol w="21031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功能模块</a:t>
                      </a:r>
                      <a:endParaRPr lang="en-US" sz="12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功能子项</a:t>
                      </a:r>
                      <a:endParaRPr lang="en-US" sz="12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对应课程技术点</a:t>
                      </a:r>
                      <a:endParaRPr lang="en-US" sz="12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用户管理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注册 · 登录 · 个人资料维护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会话管理、增删改查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需求发布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代取需求填写、发布、编辑、撤销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增删改查全套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接单处理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抢单、接单、履约信息更新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用户关联查询、事务处理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订单状态流转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状态更新、状态历史记录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订单状态流转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消息留言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发送留言、会话查看、已读标记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会话管理、用户关联查询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个人订单中心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我的发布/我的接单、订单详情、统计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增删改查、关联查询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需求列表浏览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列表展示、排序、分页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增删改查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B4965"/>
                          </a:solidFill>
                        </a:rPr>
                        <a:t>评价与信誉</a:t>
                      </a:r>
                      <a:endParaRPr lang="en-US" sz="105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313F"/>
                          </a:solidFill>
                        </a:rPr>
                        <a:t>双向评价、信誉分动态管理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A300"/>
                          </a:solidFill>
                        </a:rPr>
                        <a:t>数据统计、关联查询</a:t>
                      </a:r>
                      <a:endParaRPr lang="en-US" sz="10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3.2 用户注册与登录 · JWT 会话管理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课程技术点：会话管理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2397933263531789e+99" dist="6.198966631765894e+98" dir="1.2793629613468367e+117">
              <a:srgbClr val="000000">
                <a:alpha val="1.800000000000001e+11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435608"/>
            <a:ext cx="64008" cy="151790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441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91640"/>
            <a:ext cx="23591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学号/工号 + 手机号唯一性校验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密码加盐哈希存储，禁止明文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注册成功后即可登录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27432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574537524468537e+103" dist="7.872687622342685e+102" dir="7.67617776808102e+121">
              <a:srgbClr val="000000">
                <a:alpha val="1.800000000000001e+12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3493008"/>
            <a:ext cx="64008" cy="119786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340156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登录校验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3749040"/>
            <a:ext cx="2359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账号密码登录，签发 JWT 令牌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令牌携带用户身份与过期时间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退出登录或过期后令牌失效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429000" y="123444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会话管理流程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429000" y="164592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1B4965"/>
          </a:solidFill>
          <a:ln/>
          <a:effectLst>
            <a:outerShdw sx="100000" sy="100000" kx="0" ky="0" algn="bl" rotWithShape="0" blurRad="1.9996626560750422e+107" dist="9.998313280375211e+106" dir="4.605706660848612e+126">
              <a:srgbClr val="000000">
                <a:alpha val="1.800000000000001e+12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11880" y="17190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登录请求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11880" y="19751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客户端提交账号密码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2304288"/>
            <a:ext cx="0" cy="256032"/>
          </a:xfrm>
          <a:prstGeom prst="line">
            <a:avLst/>
          </a:prstGeom>
          <a:noFill/>
          <a:ln w="19050">
            <a:solidFill>
              <a:srgbClr val="5FA8D3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429000" y="256032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2C6E8F"/>
          </a:solidFill>
          <a:ln/>
          <a:effectLst>
            <a:outerShdw sx="100000" sy="100000" kx="0" ky="0" algn="bl" rotWithShape="0" blurRad="2.5395715732153033e+111" dist="1.2697857866076517e+111" dir="2.763423996509167e+131">
              <a:srgbClr val="000000">
                <a:alpha val="1.800000000000001e+13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1188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校验签发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11880" y="28895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服务端验证通过后签发 JWT 令牌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52160" y="3218688"/>
            <a:ext cx="0" cy="256032"/>
          </a:xfrm>
          <a:prstGeom prst="line">
            <a:avLst/>
          </a:prstGeom>
          <a:noFill/>
          <a:ln w="19050">
            <a:solidFill>
              <a:srgbClr val="5FA8D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29000" y="347472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.2252558979834354e+115" dist="1.6126279489917177e+115" dir="1.6580543979055003e+136">
              <a:srgbClr val="000000">
                <a:alpha val="1.800000000000001e+13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11880" y="35478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携带令牌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11880" y="38039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前端统一存储，请求头携带 Token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52160" y="4133088"/>
            <a:ext cx="0" cy="256032"/>
          </a:xfrm>
          <a:prstGeom prst="line">
            <a:avLst/>
          </a:prstGeom>
          <a:noFill/>
          <a:ln w="19050">
            <a:solidFill>
              <a:srgbClr val="5FA8D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429000" y="4389120"/>
            <a:ext cx="4846320" cy="658368"/>
          </a:xfrm>
          <a:prstGeom prst="roundRect">
            <a:avLst>
              <a:gd name="adj" fmla="val 13889"/>
            </a:avLst>
          </a:prstGeom>
          <a:solidFill>
            <a:srgbClr val="E8A300"/>
          </a:solidFill>
          <a:ln/>
          <a:effectLst>
            <a:outerShdw sx="100000" sy="100000" kx="0" ky="0" algn="bl" rotWithShape="0" blurRad="4.0960749904389626e+119" dist="2.0480374952194813e+119" dir="9.948326387433001e+140">
              <a:srgbClr val="000000">
                <a:alpha val="1.800000000000001e+144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1188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鉴权放行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11880" y="471830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拦截器校验有效性/权限，放行接口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3.3 发布代取需求 / 3.4 接单处理 · 抢单并发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增删改查 · 用户关联查询 + 事务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发布流程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42416" y="1481328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1B4965"/>
          </a:solidFill>
          <a:ln/>
          <a:effectLst>
            <a:outerShdw sx="100000" sy="100000" kx="0" ky="0" algn="bl" rotWithShape="0" blurRad="5.2020152378574823e+123" dist="2.6010076189287412e+123" dir="5.9689958324598e+145">
              <a:srgbClr val="000000">
                <a:alpha val="1.8000000000000009e+14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42416" y="1481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填写需求信息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42616" y="1737360"/>
            <a:ext cx="219456" cy="0"/>
          </a:xfrm>
          <a:prstGeom prst="line">
            <a:avLst/>
          </a:prstGeom>
          <a:noFill/>
          <a:ln w="22860">
            <a:solidFill>
              <a:srgbClr val="5FA8D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62072" y="1481328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2C6E8F"/>
          </a:solidFill>
          <a:ln/>
          <a:effectLst>
            <a:outerShdw sx="100000" sy="100000" kx="0" ky="0" algn="bl" rotWithShape="0" blurRad="6.606559352079002e+127" dist="3.303279676039501e+127" dir="3.58139749947588e+150">
              <a:srgbClr val="000000">
                <a:alpha val="1.800000000000001e+15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62072" y="1481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提交需求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62272" y="1737360"/>
            <a:ext cx="219456" cy="0"/>
          </a:xfrm>
          <a:prstGeom prst="line">
            <a:avLst/>
          </a:prstGeom>
          <a:noFill/>
          <a:ln w="22860">
            <a:solidFill>
              <a:srgbClr val="5FA8D3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81728" y="1481328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5FA8D3"/>
          </a:solidFill>
          <a:ln/>
          <a:effectLst>
            <a:outerShdw sx="100000" sy="100000" kx="0" ky="0" algn="bl" rotWithShape="0" blurRad="8.390330377140333e+131" dist="4.195165188570166e+131" dir="2.148838499685528e+155">
              <a:srgbClr val="000000">
                <a:alpha val="1.800000000000001e+159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81728" y="1481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校验与入库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81928" y="1737360"/>
            <a:ext cx="219456" cy="0"/>
          </a:xfrm>
          <a:prstGeom prst="line">
            <a:avLst/>
          </a:prstGeom>
          <a:noFill/>
          <a:ln w="22860">
            <a:solidFill>
              <a:srgbClr val="5FA8D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01384" y="1481328"/>
            <a:ext cx="1600200" cy="502920"/>
          </a:xfrm>
          <a:prstGeom prst="roundRect">
            <a:avLst>
              <a:gd name="adj" fmla="val 21818"/>
            </a:avLst>
          </a:prstGeom>
          <a:solidFill>
            <a:srgbClr val="E8A300"/>
          </a:solidFill>
          <a:ln/>
          <a:effectLst>
            <a:outerShdw sx="100000" sy="100000" kx="0" ky="0" algn="bl" rotWithShape="0" blurRad="1.0655719578968222e+136" dist="5.327859789484111e+135" dir="1.2893030998113169e+160">
              <a:srgbClr val="000000">
                <a:alpha val="1.800000000000001e+164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14813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进入待接单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10312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取件点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驿站/快递柜位置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21408" y="210312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21408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送达点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21408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宿舍楼栋与房间号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85616" y="210312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期望时间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85616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送达截止时间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449824" y="210312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9824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49824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自愿定价 ≥0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114032" y="2103120"/>
            <a:ext cx="1572768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14032" y="217627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14032" y="243230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包裹大小等说明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57200" y="3035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接单并发控制：多人同时抢单，同一订单只能被一人承接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3383280"/>
            <a:ext cx="4023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3532763865289643e+140" dist="6.766381932644821e+139" dir="7.735818598867901e+164">
              <a:srgbClr val="000000">
                <a:alpha val="1.800000000000001e+169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" y="3584448"/>
            <a:ext cx="64008" cy="80467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乐观锁（version 字段）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58368" y="3840480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UPDATE ... WHERE id=? AND version=?，影响 0 行即接单失败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失败提示“手慢一步”，刷新重试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663440" y="3383280"/>
            <a:ext cx="402336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7186610108917847e+144" dist="8.593305054458923e+143" dir="4.641491159320741e+169">
              <a:srgbClr val="000000">
                <a:alpha val="1.800000000000001e+174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81728" y="3584448"/>
            <a:ext cx="64008" cy="804672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40" name="Text 38"/>
          <p:cNvSpPr/>
          <p:nvPr/>
        </p:nvSpPr>
        <p:spPr>
          <a:xfrm>
            <a:off x="4864608" y="349300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事务（@Transactional）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64608" y="3840480"/>
            <a:ext cx="3639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状态更新 + 历史记录写入原子执行，失败整体回滚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同一订单不会出现重复接单数据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3.5 订单状态流转 · 状态机设计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课程技术点：订单状态流转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" y="1600200"/>
            <a:ext cx="1481328" cy="777240"/>
          </a:xfrm>
          <a:prstGeom prst="roundRect">
            <a:avLst>
              <a:gd name="adj" fmla="val 11765"/>
            </a:avLst>
          </a:prstGeom>
          <a:solidFill>
            <a:srgbClr val="1B4965"/>
          </a:solidFill>
          <a:ln/>
          <a:effectLst>
            <a:outerShdw sx="100000" sy="100000" kx="0" ky="0" algn="bl" rotWithShape="0" blurRad="2.1826994838325667e+148" dist="1.0913497419162833e+148" dir="2.7848946955924445e+174">
              <a:srgbClr val="000000">
                <a:alpha val="1.800000000000001e+179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6344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6344" y="2020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已发布待承接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947672" y="1988820"/>
            <a:ext cx="201168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148840" y="1600200"/>
            <a:ext cx="1481328" cy="777240"/>
          </a:xfrm>
          <a:prstGeom prst="roundRect">
            <a:avLst>
              <a:gd name="adj" fmla="val 11765"/>
            </a:avLst>
          </a:prstGeom>
          <a:solidFill>
            <a:srgbClr val="2C6E8F"/>
          </a:solidFill>
          <a:ln/>
          <a:effectLst>
            <a:outerShdw sx="100000" sy="100000" kx="0" ky="0" algn="bl" rotWithShape="0" blurRad="2.77202834446736e+152" dist="1.38601417223368e+152" dir="1.6709368173554668e+179">
              <a:srgbClr val="000000">
                <a:alpha val="1.8000000000000012e+184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48840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2020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接单者已承接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30168" y="1988820"/>
            <a:ext cx="201168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831336" y="1600200"/>
            <a:ext cx="1481328" cy="777240"/>
          </a:xfrm>
          <a:prstGeom prst="roundRect">
            <a:avLst>
              <a:gd name="adj" fmla="val 11765"/>
            </a:avLst>
          </a:prstGeom>
          <a:solidFill>
            <a:srgbClr val="5FA8D3"/>
          </a:solidFill>
          <a:ln/>
          <a:effectLst>
            <a:outerShdw sx="100000" sy="100000" kx="0" ky="0" algn="bl" rotWithShape="0" blurRad="3.520475997473547e+156" dist="1.7602379987367734e+156" dir="1.00256209041328e+184">
              <a:srgbClr val="000000">
                <a:alpha val="1.8000000000000013e+189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31336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取件中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31336" y="2020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已到驿站取件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312664" y="1988820"/>
            <a:ext cx="201168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13832" y="1600200"/>
            <a:ext cx="1481328" cy="777240"/>
          </a:xfrm>
          <a:prstGeom prst="roundRect">
            <a:avLst>
              <a:gd name="adj" fmla="val 11765"/>
            </a:avLst>
          </a:prstGeom>
          <a:solidFill>
            <a:srgbClr val="3E8FB5"/>
          </a:solidFill>
          <a:ln/>
          <a:effectLst>
            <a:outerShdw sx="100000" sy="100000" kx="0" ky="0" algn="bl" rotWithShape="0" blurRad="4.471004516791404e+160" dist="2.235502258395702e+160" dir="6.01537254247968e+188">
              <a:srgbClr val="000000">
                <a:alpha val="1.8000000000000013e+194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13832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配送中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13832" y="2020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送往送达点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995160" y="1988820"/>
            <a:ext cx="201168" cy="0"/>
          </a:xfrm>
          <a:prstGeom prst="line">
            <a:avLst/>
          </a:prstGeom>
          <a:noFill/>
          <a:ln w="25400">
            <a:solidFill>
              <a:srgbClr val="FFB703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96328" y="1600200"/>
            <a:ext cx="1481328" cy="777240"/>
          </a:xfrm>
          <a:prstGeom prst="roundRect">
            <a:avLst>
              <a:gd name="adj" fmla="val 11765"/>
            </a:avLst>
          </a:prstGeom>
          <a:solidFill>
            <a:srgbClr val="E8A300"/>
          </a:solidFill>
          <a:ln/>
          <a:effectLst>
            <a:outerShdw sx="100000" sy="100000" kx="0" ky="0" algn="bl" rotWithShape="0" blurRad="5.678175736325083e+164" dist="2.8390878681625417e+164" dir="3.609223525487808e+193">
              <a:srgbClr val="000000">
                <a:alpha val="1.8000000000000013e+199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96328" y="169164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96328" y="2020824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双方确认收货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834640" y="283464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8A97A5"/>
          </a:solidFill>
          <a:ln/>
          <a:effectLst>
            <a:outerShdw sx="100000" sy="100000" kx="0" ky="0" algn="bl" rotWithShape="0" blurRad="7.211283185132856e+168" dist="3.605641592566428e+168" dir="2.165534115292685e+198">
              <a:srgbClr val="000000">
                <a:alpha val="1.8000000000000012e+204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834640" y="29443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已取消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834640" y="32186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E8EE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待接单/已接单/取件中可取消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611880" y="2834640"/>
            <a:ext cx="457200" cy="-228600"/>
          </a:xfrm>
          <a:prstGeom prst="line">
            <a:avLst/>
          </a:prstGeom>
          <a:noFill/>
          <a:ln w="19050">
            <a:solidFill>
              <a:srgbClr val="8A97A5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611880" y="2377440"/>
            <a:ext cx="0" cy="182880"/>
          </a:xfrm>
          <a:prstGeom prst="line">
            <a:avLst/>
          </a:prstGeom>
          <a:noFill/>
          <a:ln w="19050">
            <a:solidFill>
              <a:srgbClr val="8A97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03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状态规则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AF3F9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023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规则：状态只能沿合法路径迁移（R-1~R-5）；每次变更写入状态历史表（R-6），支持全程追踪；完成/取消后订单锁定不可再变更。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3.6 消息留言 / 3.9 评价与信誉管理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会话管理 · 关联查询 + 信誉机制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消息留言 · 订单会话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9.158329645118728e+172" dist="4.579164822559364e+172" dir="1.299320469175611e+203">
              <a:srgbClr val="000000">
                <a:alpha val="1.800000000000001e+20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682496"/>
            <a:ext cx="64008" cy="107899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591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设计定位：跟帖式留言板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193852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每个订单即一个会话，order_id 即会话 ID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发布者与接单者围绕订单随时沟通，无需实时推送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3090672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1631078649300784e+177" dist="5.815539324650392e+176" dir="7.795922815053666e+207">
              <a:srgbClr val="000000">
                <a:alpha val="1.8000000000000013e+214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3291840"/>
            <a:ext cx="64008" cy="1078992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核心接口（3 个）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354787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发送留言：INSERT 新增记录，关联订单与发送者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查询列表：按 order_id 查询并 JOIN t_user 显示昵称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标记已读：UPDATE is_read，未读角标计数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双向评价 · 信誉分机制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481328"/>
            <a:ext cx="402336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4771469884611996e+181" dist="7.385734942305998e+180" dir="4.6775536890322e+212">
              <a:srgbClr val="000000">
                <a:alpha val="1.8000000000000013e+219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682496"/>
            <a:ext cx="64008" cy="1078992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18" name="Text 16"/>
          <p:cNvSpPr/>
          <p:nvPr/>
        </p:nvSpPr>
        <p:spPr>
          <a:xfrm>
            <a:off x="4864608" y="1591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双向评价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64608" y="1938528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订单完成后双方互评：1~5 星 + 标签，避免重复评价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初始 100 分；好评 +1、差评 -2、恶意取消 -5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分值划分等级，等级决定同时接单上限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63440" y="3090672"/>
            <a:ext cx="4023360" cy="1481328"/>
          </a:xfrm>
          <a:prstGeom prst="roundRect">
            <a:avLst>
              <a:gd name="adj" fmla="val 6173"/>
            </a:avLst>
          </a:prstGeom>
          <a:solidFill>
            <a:srgbClr val="1B4965"/>
          </a:solidFill>
          <a:ln/>
          <a:effectLst>
            <a:outerShdw sx="100000" sy="100000" kx="0" ky="0" algn="bl" rotWithShape="0" blurRad="1.8759766753457235e+185" dist="9.379883376728618e+184" dir="2.80653221341932e+217">
              <a:srgbClr val="000000">
                <a:alpha val="1.8000000000000013e+224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218688"/>
            <a:ext cx="347472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信誉分计算示例</a:t>
            </a:r>
            <a:endParaRPr lang="en-US" sz="1200" dirty="0"/>
          </a:p>
          <a:p>
            <a:pPr indent="0" marL="0">
              <a:buNone/>
            </a:pPr>
            <a:r>
              <a:rPr lang="en-US" sz="105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小张初始 100 分，完成 10 单（9 好评 + 1 差评）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+ 9×1 - 1×2 = 107 分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等级“良好”，同时接单上限 3 单 → 5 单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3.7 个人订单中心 / 3.8 需求列表浏览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订单全生命周期管理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382490377689069e+189" dist="1.1912451888445345e+189" dir="1.683919328051592e+222">
              <a:srgbClr val="000000">
                <a:alpha val="1.8000000000000013e+22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435608"/>
            <a:ext cx="64008" cy="3118104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个人订单中心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691640"/>
            <a:ext cx="363931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我的发布：发布中订单状态一览、撤销/编辑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我的接单：待取/取件中/配送中任务提醒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订单详情：状态历史时间线 + 留言会话 + 评价入口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数据统计：累计订单数、完成率、信誉分变化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按状态筛选（进行中/已完成/已取消）快速定位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02336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3.0257627796651175e+193" dist="1.5128813898325588e+193" dir="1.0103515968309552e+227">
              <a:srgbClr val="000000">
                <a:alpha val="1.8000000000000014e+23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81728" y="1435608"/>
            <a:ext cx="64008" cy="311810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2" name="Text 10"/>
          <p:cNvSpPr/>
          <p:nvPr/>
        </p:nvSpPr>
        <p:spPr>
          <a:xfrm>
            <a:off x="4864608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需求大厅（列表浏览）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691640"/>
            <a:ext cx="3639312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按发布时间倒序展示所有待接单需求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状态筛选：只看待接单，提高抢单效率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分页展示，默认每页 10 条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卡片式布局：取件点/送达点/报酬一目了然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需求方也可浏览自己的需求被浏览情况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4.1 ~ 4.6 非功能需求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六类质量属性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3.8427187301746993e+197" dist="1.9213593650873497e+197" dir="6.062109580985731e+231">
              <a:srgbClr val="000000">
                <a:alpha val="1.8000000000000013e+239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399032"/>
            <a:ext cx="64008" cy="694944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44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55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 200 请求/秒稳定运行；页面响应 &lt;3s；数据库查询 &lt;1s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12344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4.880252787321868e+201" dist="2.440126393660934e+201" dir="3.6372657485914388e+236">
              <a:srgbClr val="000000">
                <a:alpha val="1.8000000000000012e+244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1399032"/>
            <a:ext cx="64008" cy="694944"/>
          </a:xfrm>
          <a:prstGeom prst="rect">
            <a:avLst/>
          </a:prstGeom>
          <a:solidFill>
            <a:srgbClr val="2C6E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344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655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密码加盐哈希；JWT 鉴权；防 SQL 注入；操作权限校验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6.197921039898773e+205" dist="3.0989605199493864e+205" dir="2.1823594491548633e+241">
              <a:srgbClr val="000000">
                <a:alpha val="1.800000000000001e+249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569464"/>
            <a:ext cx="64008" cy="69494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可用性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8254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界面统一、操作 ≤3 步可达；错误提示清晰；帮助说明齐全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2404872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7.871359720671441e+209" dist="3.9356798603357206e+209" dir="1.309415669492918e+246">
              <a:srgbClr val="000000">
                <a:alpha val="1.800000000000001e+254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2569464"/>
            <a:ext cx="64008" cy="694944"/>
          </a:xfrm>
          <a:prstGeom prst="rect">
            <a:avLst/>
          </a:prstGeom>
          <a:solidFill>
            <a:srgbClr val="3E8FB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514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E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可靠性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28254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事务保证数据一致；异常自动回滚；关键操作可恢复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9.996626845252731e+213" dist="4.9983134226263654e+213" dir="7.856494016957508e+250">
              <a:srgbClr val="000000">
                <a:alpha val="1.8000000000000008e+259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739896"/>
            <a:ext cx="64008" cy="694944"/>
          </a:xfrm>
          <a:prstGeom prst="rect">
            <a:avLst/>
          </a:prstGeom>
          <a:solidFill>
            <a:srgbClr val="E8A3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85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可维护性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分层架构；接口文档化；代码注释规范；日志可查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81728" y="3575304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2695716093470969e+218" dist="6.347858046735484e+217" dir="4.713896410174505e+255">
              <a:srgbClr val="000000">
                <a:alpha val="1.8000000000000007e+264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3739896"/>
            <a:ext cx="64008" cy="694944"/>
          </a:xfrm>
          <a:prstGeom prst="rect">
            <a:avLst/>
          </a:prstGeom>
          <a:solidFill>
            <a:srgbClr val="C77D1F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368503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7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兼容性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 Chrome/Edge 主流浏览器；1080p 屏幕适配；跨平台 Web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5.1 数据实体与关系 / 5.2 核心表设计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大核心实体 · 10 张表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实体关系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1B4965"/>
          </a:solidFill>
          <a:ln/>
          <a:effectLst>
            <a:outerShdw sx="100000" sy="100000" kx="0" ky="0" algn="bl" rotWithShape="0" blurRad="1.612355943870813e+222" dist="8.061779719354066e+221" dir="2.828337846104703e+260">
              <a:srgbClr val="000000">
                <a:alpha val="1.8000000000000006e+269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554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847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 订单 / N:N 评价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29968" y="1837944"/>
            <a:ext cx="219456" cy="0"/>
          </a:xfrm>
          <a:prstGeom prst="line">
            <a:avLst/>
          </a:prstGeom>
          <a:noFill/>
          <a:ln w="1524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49424" y="1481328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2C6E8F"/>
          </a:solidFill>
          <a:ln/>
          <a:effectLst>
            <a:outerShdw sx="100000" sy="100000" kx="0" ky="0" algn="bl" rotWithShape="0" blurRad="2.0476920487159326e+226" dist="1.0238460243579663e+226" dir="1.6970027076628216e+265">
              <a:srgbClr val="000000">
                <a:alpha val="1.8000000000000007e+274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49424" y="1554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49424" y="1847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1:N 状态历史 / 1:N 留言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822192" y="1837944"/>
            <a:ext cx="219456" cy="0"/>
          </a:xfrm>
          <a:prstGeom prst="line">
            <a:avLst/>
          </a:prstGeom>
          <a:noFill/>
          <a:ln w="1524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041648" y="1481328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5FA8D3"/>
          </a:solidFill>
          <a:ln/>
          <a:effectLst>
            <a:outerShdw sx="100000" sy="100000" kx="0" ky="0" algn="bl" rotWithShape="0" blurRad="2.6005689018692344e+230" dist="1.3002844509346172e+230" dir="1.018201624597693e+270">
              <a:srgbClr val="000000">
                <a:alpha val="1.8000000000000008e+279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041648" y="1554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状态历史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41648" y="1847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记录每次状态变更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14416" y="1837944"/>
            <a:ext cx="219456" cy="0"/>
          </a:xfrm>
          <a:prstGeom prst="line">
            <a:avLst/>
          </a:prstGeom>
          <a:noFill/>
          <a:ln w="1524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833872" y="1481328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3E8FB5"/>
          </a:solidFill>
          <a:ln/>
          <a:effectLst>
            <a:outerShdw sx="100000" sy="100000" kx="0" ky="0" algn="bl" rotWithShape="0" blurRad="3.3027225053739275e+234" dist="1.6513612526869638e+234" dir="6.109209747586158e+274">
              <a:srgbClr val="000000">
                <a:alpha val="1.8000000000000007e+284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33872" y="1554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33872" y="1847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订单会话内多条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06640" y="1837944"/>
            <a:ext cx="219456" cy="0"/>
          </a:xfrm>
          <a:prstGeom prst="line">
            <a:avLst/>
          </a:prstGeom>
          <a:noFill/>
          <a:ln w="1524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626096" y="1481328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E8A300"/>
          </a:solidFill>
          <a:ln/>
          <a:effectLst>
            <a:outerShdw sx="100000" sy="100000" kx="0" ky="0" algn="bl" rotWithShape="0" blurRad="4.194457581824888e+238" dist="2.097228790912444e+238" dir="3.665525848551695e+279">
              <a:srgbClr val="000000">
                <a:alpha val="1.8000000000000007e+289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626096" y="15544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26096" y="184708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订单完成后 1~2 条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57200" y="25146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核心数据表（5.2）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52928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4297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表名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用途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关键字段</a:t>
                      </a:r>
                      <a:endParaRPr lang="en-US" sz="11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96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0" marR="0" marT="0" marB="0">
                    <a:lnL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5.3 数据完整性 / 5.4 数据量估算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约束设计 + 规模评估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5.326961128917608e+242" dist="2.663480564458804e+242" dir="2.1993155091310168e+284">
              <a:srgbClr val="000000">
                <a:alpha val="1.8000000000000007e+294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25880"/>
            <a:ext cx="365760" cy="36576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实体完整性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" y="17830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主键唯一且非空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78608" y="118872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6.765240633725363e+246" dist="3.3826203168626813e+246" dir="1.31958930547861e+289">
              <a:srgbClr val="000000">
                <a:alpha val="1.8000000000000008e+299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15768" y="1325880"/>
            <a:ext cx="365760" cy="36576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2715768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72968" y="1353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参照完整性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724912" y="17830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外键须关联存在记录，防孤儿数据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0016" y="118872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8.59185560483121e+250" dist="4.295927802415605e+250" dir="7.91753583287166e+293">
              <a:srgbClr val="000000">
                <a:alpha val="1.8000000000000007e+304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37176" y="1325880"/>
            <a:ext cx="365760" cy="36576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8" name="Text 16"/>
          <p:cNvSpPr/>
          <p:nvPr/>
        </p:nvSpPr>
        <p:spPr>
          <a:xfrm>
            <a:off x="4837176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94376" y="1353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域完整性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17830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状态取值受限、报酬≥0、星级 1~5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21424" y="1188720"/>
            <a:ext cx="197510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0911656618135637e+255" dist="5.455828309067819e+254" dir="4.750521499722996e+298">
              <a:srgbClr val="000000">
                <a:alpha val="Infinity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58584" y="1325880"/>
            <a:ext cx="365760" cy="36576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3" name="Text 21"/>
          <p:cNvSpPr/>
          <p:nvPr/>
        </p:nvSpPr>
        <p:spPr>
          <a:xfrm>
            <a:off x="6958584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15784" y="135331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业务完整性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67728" y="1783080"/>
            <a:ext cx="17007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事务保证关联操作原子性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27889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数据规模（运行一学期）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15468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EAF3F9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1,000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7200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39867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注册用户约 1000 人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2121408" y="315468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EAF3F9"/>
          </a:solidFill>
          <a:ln/>
        </p:spPr>
      </p:sp>
      <p:sp>
        <p:nvSpPr>
          <p:cNvPr id="32" name="Text 30"/>
          <p:cNvSpPr/>
          <p:nvPr/>
        </p:nvSpPr>
        <p:spPr>
          <a:xfrm>
            <a:off x="2121408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12,000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121408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121408" y="39867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日均新增约 100 笔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785616" y="315468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EAF3F9"/>
          </a:solidFill>
          <a:ln/>
        </p:spPr>
      </p:sp>
      <p:sp>
        <p:nvSpPr>
          <p:cNvPr id="36" name="Text 34"/>
          <p:cNvSpPr/>
          <p:nvPr/>
        </p:nvSpPr>
        <p:spPr>
          <a:xfrm>
            <a:off x="3785616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48,000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785616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留言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785616" y="39867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月度约 12000 条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49824" y="315468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EAF3F9"/>
          </a:solidFill>
          <a:ln/>
        </p:spPr>
      </p:sp>
      <p:sp>
        <p:nvSpPr>
          <p:cNvPr id="40" name="Text 38"/>
          <p:cNvSpPr/>
          <p:nvPr/>
        </p:nvSpPr>
        <p:spPr>
          <a:xfrm>
            <a:off x="5449824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24,000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449824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49824" y="39867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订单完成后产生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7114032" y="3154680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EAF3F9"/>
          </a:solidFill>
          <a:ln/>
        </p:spPr>
      </p:sp>
      <p:sp>
        <p:nvSpPr>
          <p:cNvPr id="44" name="Text 42"/>
          <p:cNvSpPr/>
          <p:nvPr/>
        </p:nvSpPr>
        <p:spPr>
          <a:xfrm>
            <a:off x="7114032" y="32461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4965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36,000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114032" y="3730752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状态历史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114032" y="398678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每单平均 3 次变更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57200" y="4526280"/>
            <a:ext cx="8229600" cy="274320"/>
          </a:xfrm>
          <a:prstGeom prst="roundRect">
            <a:avLst>
              <a:gd name="adj" fmla="val 16667"/>
            </a:avLst>
          </a:prstGeom>
          <a:solidFill>
            <a:srgbClr val="1B4965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总量约十万条以内，属轻量级：单库单表 + 合理索引即可满足性能要求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6.1 ~ 6.6 业务规则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 R-1 ~ R-25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3857803905032259e+259" dist="6.928901952516129e+258" dir="2.8503128998337977e+303">
              <a:srgbClr val="000000">
                <a:alpha val="Infinity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399032"/>
            <a:ext cx="64008" cy="694944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441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状态流转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55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R-1~R-5 合法路径迁移；R-6 每次变更记历史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81728" y="1234440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759941095939097e+263" dist="8.799705479695485e+262" dir="1.7101877399002787e+308">
              <a:srgbClr val="000000">
                <a:alpha val="Infinity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1399032"/>
            <a:ext cx="64008" cy="694944"/>
          </a:xfrm>
          <a:prstGeom prst="rect">
            <a:avLst/>
          </a:prstGeom>
          <a:solidFill>
            <a:srgbClr val="2C6E8F"/>
          </a:solidFill>
          <a:ln/>
        </p:spPr>
      </p:sp>
      <p:sp>
        <p:nvSpPr>
          <p:cNvPr id="12" name="Text 10"/>
          <p:cNvSpPr/>
          <p:nvPr/>
        </p:nvSpPr>
        <p:spPr>
          <a:xfrm>
            <a:off x="4910328" y="13441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接单抢单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65506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R-7~R-10 同一订单仅一人承接；乐观锁防重复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404872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235125191842653e+267" dist="1.1175625959213265e+267" dir="Infinity">
              <a:srgbClr val="000000">
                <a:alpha val="Infinity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2569464"/>
            <a:ext cx="64008" cy="694944"/>
          </a:xfrm>
          <a:prstGeom prst="rect">
            <a:avLst/>
          </a:prstGeom>
          <a:solidFill>
            <a:srgbClr val="5FA8D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5FA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订单取消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28254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R-11~R-13 待接单可撤；接单后协商取消并扣信誉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81728" y="2404872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2.8386089936401693e+271" dist="1.4193044968200846e+271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0016" y="2569464"/>
            <a:ext cx="64008" cy="694944"/>
          </a:xfrm>
          <a:prstGeom prst="rect">
            <a:avLst/>
          </a:prstGeom>
          <a:solidFill>
            <a:srgbClr val="3E8FB5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514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E8FB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超时处理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10328" y="28254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R-14~R-17 接单/取件/配送超时自动提醒降级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75304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3.605033421923015e+275" dist="1.8025167109615074e+275" dir="Infinity">
              <a:srgbClr val="000000">
                <a:alpha val="Infinity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" y="3739896"/>
            <a:ext cx="64008" cy="694944"/>
          </a:xfrm>
          <a:prstGeom prst="rect">
            <a:avLst/>
          </a:prstGeom>
          <a:solidFill>
            <a:srgbClr val="E8A30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85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报酬结算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R-18~R-21 完成后自动确认；双方可协商调整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81728" y="3575304"/>
            <a:ext cx="4005072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4.578392445842229e+279" dist="2.2891962229211143e+279" dir="Infinity">
              <a:srgbClr val="000000">
                <a:alpha val="Infinity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0016" y="3739896"/>
            <a:ext cx="64008" cy="694944"/>
          </a:xfrm>
          <a:prstGeom prst="rect">
            <a:avLst/>
          </a:prstGeom>
          <a:solidFill>
            <a:srgbClr val="C77D1F"/>
          </a:solidFill>
          <a:ln/>
        </p:spPr>
      </p:sp>
      <p:sp>
        <p:nvSpPr>
          <p:cNvPr id="28" name="Text 26"/>
          <p:cNvSpPr/>
          <p:nvPr/>
        </p:nvSpPr>
        <p:spPr>
          <a:xfrm>
            <a:off x="4910328" y="368503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C77D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评价信誉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910328" y="39959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R-22~R-25 好评+1 差评-2；等级决定接单上限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7.1 外部接口需求概述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本轮以站内自实现为主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1B4965"/>
          </a:solidFill>
          <a:ln/>
          <a:effectLst>
            <a:outerShdw sx="100000" sy="100000" kx="0" ky="0" algn="bl" rotWithShape="0" blurRad="5.8145584062196306e+283" dist="2.9072792031098153e+283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核心策略：通知提醒站内化、验证码本地生成校验、位置数据静态描述——不依赖任何第三方外部接口，核心业务闭环自洽。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7.384489175898931e+287" dist="3.6922445879494656e+287" dir="Infinity">
              <a:srgbClr val="000000">
                <a:alpha val="Infinity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2496312"/>
            <a:ext cx="365760" cy="36576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231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业务闭环自足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6974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站内方式已覆盖全部课程技术点，核心功能不依赖第三方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9.378301253391643e+291" dist="4.6891506266958215e+291" dir="Infinity">
              <a:srgbClr val="000000">
                <a:alpha val="Infinity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337560"/>
            <a:ext cx="365760" cy="365760"/>
          </a:xfrm>
          <a:prstGeom prst="ellipse">
            <a:avLst/>
          </a:prstGeom>
          <a:solidFill>
            <a:srgbClr val="2C6E8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26440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成本与资质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35387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短信/支付等需企业资质与费用申请，校园环境不便获取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014216"/>
            <a:ext cx="822960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1.1910442591807386e+296" dist="5.955221295903693e+295" dir="Infinity">
              <a:srgbClr val="000000">
                <a:alpha val="Infinity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4178808"/>
            <a:ext cx="365760" cy="365760"/>
          </a:xfrm>
          <a:prstGeom prst="ellipse">
            <a:avLst/>
          </a:prstGeom>
          <a:solidFill>
            <a:srgbClr val="E8A30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34440" y="410565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周期优先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37997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人小组开发周期有限，优先保证核心质量与测试充分性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后续如需对接短信、地图、支付、推送等外部接口，可基于本章框架扩展设计。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8.1 总体架构：前后端分离 B/S 三层架构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技术选型建议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78992"/>
          </a:xfrm>
          <a:prstGeom prst="roundRect">
            <a:avLst>
              <a:gd name="adj" fmla="val 8475"/>
            </a:avLst>
          </a:prstGeom>
          <a:solidFill>
            <a:srgbClr val="E8A300"/>
          </a:solidFill>
          <a:ln/>
          <a:effectLst>
            <a:outerShdw sx="100000" sy="100000" kx="0" ky="0" algn="bl" rotWithShape="0" blurRad="1.512626209159538e+300" dist="7.56313104579769e+299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44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表现层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691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Element Plus（SPA）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344168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路由 / Pinia 状态 / Axios 请求封装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页面：需求大厅 · 订单中心 · 留言会话 · 个人中心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0" y="2313432"/>
            <a:ext cx="0" cy="164592"/>
          </a:xfrm>
          <a:prstGeom prst="line">
            <a:avLst/>
          </a:prstGeom>
          <a:noFill/>
          <a:ln w="1524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478024"/>
            <a:ext cx="8229600" cy="1078992"/>
          </a:xfrm>
          <a:prstGeom prst="roundRect">
            <a:avLst>
              <a:gd name="adj" fmla="val 8475"/>
            </a:avLst>
          </a:prstGeom>
          <a:solidFill>
            <a:srgbClr val="1B4965"/>
          </a:solidFill>
          <a:ln/>
          <a:effectLst>
            <a:outerShdw sx="100000" sy="100000" kx="0" ky="0" algn="bl" rotWithShape="0" blurRad="1.9210352856326135e+304" dist="9.605176428163068e+303" dir="Infinity">
              <a:srgbClr val="000000">
                <a:alpha val="Infinity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258775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服务层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9352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3.x RESTful API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587752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业务逻辑 / MyBatis 持久化 / JWT 鉴权拦截器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 @Transactional + 乐观锁 version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0" y="3557016"/>
            <a:ext cx="0" cy="164592"/>
          </a:xfrm>
          <a:prstGeom prst="line">
            <a:avLst/>
          </a:prstGeom>
          <a:noFill/>
          <a:ln w="15240">
            <a:solidFill>
              <a:srgbClr val="5C72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" y="3721608"/>
            <a:ext cx="8229600" cy="1078992"/>
          </a:xfrm>
          <a:prstGeom prst="roundRect">
            <a:avLst>
              <a:gd name="adj" fmla="val 8475"/>
            </a:avLst>
          </a:prstGeom>
          <a:solidFill>
            <a:srgbClr val="2C6E8F"/>
          </a:solidFill>
          <a:ln/>
          <a:effectLst>
            <a:outerShdw sx="100000" sy="100000" kx="0" ky="0" algn="bl" rotWithShape="0" blurRad="Infinity" dist="1.2198574063767096e+308" dir="Infinity">
              <a:srgbClr val="000000">
                <a:alpha val="Infinity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831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数据层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417880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EAF3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 关系型数据库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3831336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张核心表 + 关联表，utf8mb4 字符集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索引优化：order_id / publisher_id / taker_id / status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8.2 ~ 8.5 技术栈 / 数据库 / 开发运行环境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统一技术栈 + 部署准备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后端技术栈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51790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Java 17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开发语言，LTS 长期支持版本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048256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084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核心框架，自动配置 + 依赖管理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2578608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615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MyBatis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6151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持久层，XML/注解写 SQL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令牌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468880" y="31455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无状态认证，适配前后端分离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57200" y="363931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乐观锁+事务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468880" y="3675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@Transactional + version 字段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663440" y="117043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前端技术栈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51790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554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55448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组合式 API，响应式数据绑定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048256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0848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组件库，开箱即用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2578608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6151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675120" y="261518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构建工具，开发热更新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1455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+ Axios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31455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前端路由与请求封装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663440" y="3639312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675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Pinia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675120" y="367588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状态管理，全局会话信息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224528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AF3F9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4224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数据库：MySQL 8.0+（utf8mb4，order_id / publisher_id / taker_id / status 索引，Redis 仅作可选缓存）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开发运行：IntelliJ IDEA + VS Code · JDK 17 + Node.js 18+ · Maven 3.8+ · Navicat · 实验室服务器部署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6304" cy="548640"/>
          </a:xfrm>
          <a:prstGeom prst="roundRect">
            <a:avLst>
              <a:gd name="adj" fmla="val 25000"/>
            </a:avLst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5603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475488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2313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三人分工 · 四阶段迭代开发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0" y="502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8.6 分工与计划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000000">
                <a:alpha val="Infinity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4813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1005840" cy="41148"/>
          </a:xfrm>
          <a:prstGeom prst="rect">
            <a:avLst/>
          </a:prstGeom>
          <a:solidFill>
            <a:srgbClr val="2C6E8F"/>
          </a:solidFill>
          <a:ln/>
        </p:spPr>
      </p:sp>
      <p:sp>
        <p:nvSpPr>
          <p:cNvPr id="9" name="Shape 7"/>
          <p:cNvSpPr/>
          <p:nvPr/>
        </p:nvSpPr>
        <p:spPr>
          <a:xfrm>
            <a:off x="685800" y="2029968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EAF3F9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103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27632" y="208483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数据库设计 · ER图与表结构 · 索引约束 · 初始化测试数据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" y="2852928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29260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290779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订单逻辑后端 · 状态流转 · JWT会话管理 · 接单事务与乐观锁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5800" y="3675888"/>
            <a:ext cx="3291840" cy="713232"/>
          </a:xfrm>
          <a:prstGeom prst="roundRect">
            <a:avLst>
              <a:gd name="adj" fmla="val 7692"/>
            </a:avLst>
          </a:prstGeom>
          <a:solidFill>
            <a:srgbClr val="EAF3F9"/>
          </a:solidFill>
          <a:ln w="12700">
            <a:solidFill>
              <a:srgbClr val="D6E4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27632" y="373075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前端展示 · 前后端联调 · 测试用例与测试汇总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24528" y="1325880"/>
            <a:ext cx="27432" cy="3200400"/>
          </a:xfrm>
          <a:prstGeom prst="rect">
            <a:avLst/>
          </a:prstGeom>
          <a:solidFill>
            <a:srgbClr val="D6E4EE"/>
          </a:solidFill>
          <a:ln/>
        </p:spPr>
      </p:sp>
      <p:sp>
        <p:nvSpPr>
          <p:cNvPr id="19" name="Text 17"/>
          <p:cNvSpPr/>
          <p:nvPr/>
        </p:nvSpPr>
        <p:spPr>
          <a:xfrm>
            <a:off x="4526280" y="1325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四阶段开发计划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26280" y="1673352"/>
            <a:ext cx="1005840" cy="41148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21" name="Shape 19"/>
          <p:cNvSpPr/>
          <p:nvPr/>
        </p:nvSpPr>
        <p:spPr>
          <a:xfrm>
            <a:off x="4526280" y="1929384"/>
            <a:ext cx="310896" cy="310896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22" name="Text 20"/>
          <p:cNvSpPr/>
          <p:nvPr/>
        </p:nvSpPr>
        <p:spPr>
          <a:xfrm>
            <a:off x="4526280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1911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B49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 · 需求与设计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83480" y="21854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 · ER图 · 接口文档 · 原型设计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26280" y="2615184"/>
            <a:ext cx="310896" cy="310896"/>
          </a:xfrm>
          <a:prstGeom prst="ellipse">
            <a:avLst/>
          </a:prstGeom>
          <a:solidFill>
            <a:srgbClr val="2C6E8F"/>
          </a:solidFill>
          <a:ln/>
        </p:spPr>
      </p:sp>
      <p:sp>
        <p:nvSpPr>
          <p:cNvPr id="26" name="Text 24"/>
          <p:cNvSpPr/>
          <p:nvPr/>
        </p:nvSpPr>
        <p:spPr>
          <a:xfrm>
            <a:off x="452628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25968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C6E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 · 核心功能开发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83480" y="28712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 · 需求发布 · 接单处理 · 状态流转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26280" y="3300984"/>
            <a:ext cx="310896" cy="310896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30" name="Text 28"/>
          <p:cNvSpPr/>
          <p:nvPr/>
        </p:nvSpPr>
        <p:spPr>
          <a:xfrm>
            <a:off x="4526280" y="3300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83480" y="3282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5FA8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 · 功能完善与联调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83480" y="35570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消息留言 · 评价信誉 · 前后端联调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26280" y="3986784"/>
            <a:ext cx="310896" cy="310896"/>
          </a:xfrm>
          <a:prstGeom prst="ellipse">
            <a:avLst/>
          </a:prstGeom>
          <a:solidFill>
            <a:srgbClr val="E8A300"/>
          </a:solidFill>
          <a:ln/>
        </p:spPr>
      </p:sp>
      <p:sp>
        <p:nvSpPr>
          <p:cNvPr id="34" name="Text 32"/>
          <p:cNvSpPr/>
          <p:nvPr/>
        </p:nvSpPr>
        <p:spPr>
          <a:xfrm>
            <a:off x="4526280" y="3986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39684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E8A3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第四阶段 · 测试与验收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83480" y="424281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C72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 · 集成测试 · 测试报告 · 答辩材料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57200" y="4645152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EAF3F9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4645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31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协作机制：接口文档先行（Swagger/Apifox）→ 成员二定义接口 → 成员一补表结构 → 成员三按接口开发页面；每个阶段小组例会同步进度。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30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B70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总结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1353312"/>
            <a:ext cx="411480" cy="411480"/>
          </a:xfrm>
          <a:prstGeom prst="ellipse">
            <a:avLst/>
          </a:prstGeom>
          <a:solidFill>
            <a:srgbClr val="FFB70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280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需求明确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2984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项核心功能 + 4 项课程技术点全覆盖，范围聚焦可交付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2011680"/>
            <a:ext cx="411480" cy="411480"/>
          </a:xfrm>
          <a:prstGeom prst="ellipse">
            <a:avLst/>
          </a:prstGeom>
          <a:solidFill>
            <a:srgbClr val="2C6E8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1938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技术可行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9568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+ MyBatis + MySQL + Vue3 + JWT，栈内技术风险低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68680" y="2670048"/>
            <a:ext cx="411480" cy="411480"/>
          </a:xfrm>
          <a:prstGeom prst="ellipse">
            <a:avLst/>
          </a:prstGeom>
          <a:solidFill>
            <a:srgbClr val="5FA8D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25968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设计落地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61518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状态机、乐观锁、信誉机制等关键设计已细化到规则与字段级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68680" y="3328416"/>
            <a:ext cx="411480" cy="411480"/>
          </a:xfrm>
          <a:prstGeom prst="ellipse">
            <a:avLst/>
          </a:prstGeom>
          <a:solidFill>
            <a:srgbClr val="C77D1F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25526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分工清晰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327355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7E4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人按数据库/后端/前端分工，四阶段迭代计划可控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" y="4023360"/>
            <a:ext cx="7498080" cy="0"/>
          </a:xfrm>
          <a:prstGeom prst="line">
            <a:avLst/>
          </a:prstGeom>
          <a:noFill/>
          <a:ln w="19050">
            <a:solidFill>
              <a:srgbClr val="1D44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150" kern="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谢谢观看 · 恳请老师批评指正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校园快递代取平台 需求分析报告</dc:title>
  <dc:subject>PptxGenJS Presentation</dc:subject>
  <dc:creator>易涛，熊孟霖，彭效然</dc:creator>
  <cp:lastModifiedBy>易涛，熊孟霖，彭效然</cp:lastModifiedBy>
  <cp:revision>1</cp:revision>
  <dcterms:created xsi:type="dcterms:W3CDTF">2026-09-29T13:41:29Z</dcterms:created>
  <dcterms:modified xsi:type="dcterms:W3CDTF">2026-09-29T13:41:29Z</dcterms:modified>
</cp:coreProperties>
</file>